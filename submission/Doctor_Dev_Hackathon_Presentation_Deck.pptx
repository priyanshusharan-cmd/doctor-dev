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f9bc208af7a4680" /><Relationship Type="http://schemas.openxmlformats.org/officeDocument/2006/relationships/extended-properties" Target="/docProps/app.xml" Id="R9e279dfb925448f3" /><Relationship Type="http://schemas.openxmlformats.org/officeDocument/2006/relationships/officeDocument" Target="/ppt/presentation.xml" Id="Ra61469cdcff34a2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78ec294a6dc4260"/>
  </p:sldMasterIdLst>
  <p:notesMasterIdLst>
    <p:notesMasterId xmlns:r="http://schemas.openxmlformats.org/officeDocument/2006/relationships" r:id="Ra089c1055d2f46d8"/>
  </p:notesMasterIdLst>
  <p:sldIdLst>
    <p:sldId xmlns:r="http://schemas.openxmlformats.org/officeDocument/2006/relationships" id="256" r:id="R66e4f53571e2466d"/>
    <p:sldId xmlns:r="http://schemas.openxmlformats.org/officeDocument/2006/relationships" id="257" r:id="Rd14bd30874504071"/>
    <p:sldId xmlns:r="http://schemas.openxmlformats.org/officeDocument/2006/relationships" id="258" r:id="R972adf33f59b487e"/>
    <p:sldId xmlns:r="http://schemas.openxmlformats.org/officeDocument/2006/relationships" id="259" r:id="R2f76d7858e7c43f6"/>
    <p:sldId xmlns:r="http://schemas.openxmlformats.org/officeDocument/2006/relationships" id="260" r:id="R9d57d048f2c840d1"/>
    <p:sldId xmlns:r="http://schemas.openxmlformats.org/officeDocument/2006/relationships" id="261" r:id="Rc81c205b6a204ca4"/>
    <p:sldId xmlns:r="http://schemas.openxmlformats.org/officeDocument/2006/relationships" id="262" r:id="R19925128ef8941ac"/>
    <p:sldId xmlns:r="http://schemas.openxmlformats.org/officeDocument/2006/relationships" id="263" r:id="R36adc70b9dab432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a2b8c92f27a4a6a" /><Relationship Type="http://schemas.openxmlformats.org/officeDocument/2006/relationships/slideMaster" Target="/ppt/slideMasters/slideMaster1.xml" Id="R778ec294a6dc4260" /><Relationship Type="http://schemas.openxmlformats.org/officeDocument/2006/relationships/notesMaster" Target="/ppt/notesMasters/notesMaster1.xml" Id="Ra089c1055d2f46d8" /><Relationship Type="http://schemas.openxmlformats.org/officeDocument/2006/relationships/presProps" Target="/ppt/presProps.xml" Id="R7eba922e782e4a93" /><Relationship Type="http://schemas.openxmlformats.org/officeDocument/2006/relationships/tableStyles" Target="/ppt/tableStyles.xml" Id="R7297c2d65ac446bd" /><Relationship Type="http://schemas.openxmlformats.org/officeDocument/2006/relationships/slide" Target="/ppt/slides/slide1.xml" Id="R66e4f53571e2466d" /><Relationship Type="http://schemas.openxmlformats.org/officeDocument/2006/relationships/slide" Target="/ppt/slides/slide2.xml" Id="Rd14bd30874504071" /><Relationship Type="http://schemas.openxmlformats.org/officeDocument/2006/relationships/slide" Target="/ppt/slides/slide3.xml" Id="R972adf33f59b487e" /><Relationship Type="http://schemas.openxmlformats.org/officeDocument/2006/relationships/slide" Target="/ppt/slides/slide4.xml" Id="R2f76d7858e7c43f6" /><Relationship Type="http://schemas.openxmlformats.org/officeDocument/2006/relationships/slide" Target="/ppt/slides/slide5.xml" Id="R9d57d048f2c840d1" /><Relationship Type="http://schemas.openxmlformats.org/officeDocument/2006/relationships/slide" Target="/ppt/slides/slide6.xml" Id="Rc81c205b6a204ca4" /><Relationship Type="http://schemas.openxmlformats.org/officeDocument/2006/relationships/slide" Target="/ppt/slides/slide7.xml" Id="R19925128ef8941ac" /><Relationship Type="http://schemas.openxmlformats.org/officeDocument/2006/relationships/slide" Target="/ppt/slides/slide8.xml" Id="R36adc70b9dab432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935de60c32b428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9b7734eba8a4cbf" /><Relationship Type="http://schemas.openxmlformats.org/officeDocument/2006/relationships/notesMaster" Target="/ppt/notesMasters/notesMaster1.xml" Id="R2c76f7863cc04ac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f9aee306f6b481f" /><Relationship Type="http://schemas.openxmlformats.org/officeDocument/2006/relationships/notesMaster" Target="/ppt/notesMasters/notesMaster1.xml" Id="R317527df900d4fc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5bc36657a984d1a" /><Relationship Type="http://schemas.openxmlformats.org/officeDocument/2006/relationships/notesMaster" Target="/ppt/notesMasters/notesMaster1.xml" Id="R859995409616434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e5fd3b230d64fef" /><Relationship Type="http://schemas.openxmlformats.org/officeDocument/2006/relationships/notesMaster" Target="/ppt/notesMasters/notesMaster1.xml" Id="R607f12049430488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53b6bb0b5274dae" /><Relationship Type="http://schemas.openxmlformats.org/officeDocument/2006/relationships/notesMaster" Target="/ppt/notesMasters/notesMaster1.xml" Id="Rb70ac4fe2c384ec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3f09f04b3aa42b5" /><Relationship Type="http://schemas.openxmlformats.org/officeDocument/2006/relationships/notesMaster" Target="/ppt/notesMasters/notesMaster1.xml" Id="R52989dca4c9848e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0b450fa530746a7" /><Relationship Type="http://schemas.openxmlformats.org/officeDocument/2006/relationships/notesMaster" Target="/ppt/notesMasters/notesMaster1.xml" Id="R3f68243ccb6f48a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ed634c8eda64aa1" /><Relationship Type="http://schemas.openxmlformats.org/officeDocument/2006/relationships/notesMaster" Target="/ppt/notesMasters/notesMaster1.xml" Id="R8049376afacb4c7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supplied Doctor Dev screenshot 1 and project README.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supplied project README, Why Doctor Dev and problem sections.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supplied project README, solution and user workflow.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supplied Doctor Dev screenshot 2. These are screenshot metrics for one Axios scan, not a measured productivity result.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supplied project README, solution and evidence-based coverage sections; screenshots 3 and 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supplied Doctor Dev screenshot 4, Axios example. Findings are heuristic, with confidence labels in the UI.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project README, architecture and security sections.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repository: https://github.com/priyanshusharan-cmd/doctor-dev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77b17ef066472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557f3b6758e438c" /><Relationship Type="http://schemas.openxmlformats.org/officeDocument/2006/relationships/slideLayout" Target="/ppt/slideLayouts/slideLayout1.xml" Id="Ra49ac9b85a594bb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49ac9b85a594bb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9658a67e0d481e" /><Relationship Type="http://schemas.openxmlformats.org/officeDocument/2006/relationships/image" Target="/ppt/media/image.png" Id="Ra0d301719f3b4320" /><Relationship Type="http://schemas.openxmlformats.org/officeDocument/2006/relationships/notesSlide" Target="/ppt/notesSlides/notesSlide1.xml" Id="Re2b8c5afe6a9407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8b18c655654b7d" /><Relationship Type="http://schemas.openxmlformats.org/officeDocument/2006/relationships/notesSlide" Target="/ppt/notesSlides/notesSlide2.xml" Id="R9b0edb9d04ba43f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7c4b48fdec4517" /><Relationship Type="http://schemas.openxmlformats.org/officeDocument/2006/relationships/notesSlide" Target="/ppt/notesSlides/notesSlide3.xml" Id="R54bffcee5c5547d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6981e6f9804dfa" /><Relationship Type="http://schemas.openxmlformats.org/officeDocument/2006/relationships/image" Target="/ppt/media/image2.png" Id="R04f040c7fad9427e" /><Relationship Type="http://schemas.openxmlformats.org/officeDocument/2006/relationships/notesSlide" Target="/ppt/notesSlides/notesSlide4.xml" Id="R43c5358642db4aa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a30b97b10245bc" /><Relationship Type="http://schemas.openxmlformats.org/officeDocument/2006/relationships/notesSlide" Target="/ppt/notesSlides/notesSlide5.xml" Id="Rfdef7dcc019c499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a12fbe374947c2" /><Relationship Type="http://schemas.openxmlformats.org/officeDocument/2006/relationships/image" Target="/ppt/media/image3.png" Id="Rda37314f76aa422c" /><Relationship Type="http://schemas.openxmlformats.org/officeDocument/2006/relationships/notesSlide" Target="/ppt/notesSlides/notesSlide6.xml" Id="R06f1d38cdbd94c0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31db829145446b" /><Relationship Type="http://schemas.openxmlformats.org/officeDocument/2006/relationships/notesSlide" Target="/ppt/notesSlides/notesSlide7.xml" Id="R2597b3bc6537400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a34d1582444616" /><Relationship Type="http://schemas.openxmlformats.org/officeDocument/2006/relationships/notesSlide" Target="/ppt/notesSlides/notesSlide8.xml" Id="Ra6f3ab6a1980412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0B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63064B-6DA5-4817-85B2-09C7384ED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A8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131DAA-0DF3-4927-A822-3A3B6CAD2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BA8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5BA8FF"/>
                </a:solidFill>
                <a:latin typeface="Bitstream Charter"/>
                <a:ea typeface="Bitstream Charter"/>
                <a:cs typeface="Bitstream Charter"/>
              </a:rPr>
              <a:t>DOCTOR DEV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412B78-F385-4115-9EFC-00D8C3655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667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A7B4C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A7B4C9"/>
                </a:solidFill>
                <a:latin typeface="Bitstream Charter"/>
                <a:ea typeface="Bitstream Charter"/>
                <a:cs typeface="Bitstream Charter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AE3130-E766-473B-B409-32E796A40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95400"/>
            <a:ext cx="685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5850" b="1">
                <a:solidFill>
                  <a:srgbClr val="F5F7F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5850" b="1">
                <a:solidFill>
                  <a:srgbClr val="F5F7FB"/>
                </a:solidFill>
                <a:latin typeface="Bitstream Charter"/>
                <a:ea typeface="Bitstream Charter"/>
                <a:cs typeface="Bitstream Charter"/>
              </a:rPr>
              <a:t>Doctor Dev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22E38E-4F07-4803-B553-2C55A6C58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666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5BA8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625" b="1">
                <a:solidFill>
                  <a:srgbClr val="5BA8FF"/>
                </a:solidFill>
                <a:latin typeface="Bitstream Charter"/>
                <a:ea typeface="Bitstream Charter"/>
                <a:cs typeface="Bitstream Charter"/>
              </a:rPr>
              <a:t>Find repository risks before they reach developers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D4CECE-A8C6-4CDF-BD8D-D8F27043E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29025"/>
            <a:ext cx="5953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A7B4C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>
                <a:solidFill>
                  <a:srgbClr val="A7B4C9"/>
                </a:solidFill>
                <a:latin typeface="Bitstream Charter"/>
                <a:ea typeface="Bitstream Charter"/>
                <a:cs typeface="Bitstream Charter"/>
              </a:rPr>
              <a:t>A connected health check for tests, configuration and release readiness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E68765-157A-4468-952E-1CE813407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3875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7335C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324AB9-FDB4-4537-9AC9-FFDF71AC7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30542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5BA8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1">
                <a:solidFill>
                  <a:srgbClr val="5BA8FF"/>
                </a:solidFill>
                <a:latin typeface="Bitstream Charter"/>
                <a:ea typeface="Bitstream Charter"/>
                <a:cs typeface="Bitstream Charter"/>
              </a:rPr>
              <a:t>TestPilot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B69E4E-66C0-49DB-B1B3-15C63F669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523875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36204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79194A-D8D0-4DE6-A1B5-61513B3B9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5305425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B775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1">
                <a:solidFill>
                  <a:srgbClr val="B775FF"/>
                </a:solidFill>
                <a:latin typeface="Bitstream Charter"/>
                <a:ea typeface="Bitstream Charter"/>
                <a:cs typeface="Bitstream Charter"/>
              </a:rPr>
              <a:t>ConfigDoctor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736BC1-95F7-4016-9473-2AEDEB001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143000"/>
            <a:ext cx="4476750" cy="4781550"/>
          </a:xfrm>
          <a:prstGeom xmlns:a="http://schemas.openxmlformats.org/drawingml/2006/main" prst="roundRect">
            <a:avLst>
              <a:gd name="adj" fmla="val 1702"/>
            </a:avLst>
          </a:prstGeom>
          <a:solidFill xmlns:a="http://schemas.openxmlformats.org/drawingml/2006/main">
            <a:srgbClr val="0A1020"/>
          </a:solidFill>
          <a:ln xmlns:a="http://schemas.openxmlformats.org/drawingml/2006/main" w="0">
            <a:noFill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d301719f3b4320"/>
          <a:stretch xmlns:a="http://schemas.openxmlformats.org/drawingml/2006/main"/>
        </p:blipFill>
        <p:spPr>
          <a:xfrm xmlns:a="http://schemas.openxmlformats.org/drawingml/2006/main">
            <a:off x="7343775" y="1143541"/>
            <a:ext cx="3781425" cy="478046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611734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0B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3D1220-DF54-4065-8E82-0DF588926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A8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D058DC-6484-4D0E-93E2-6097C5524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BA8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5BA8FF"/>
                </a:solidFill>
                <a:latin typeface="Bitstream Charter"/>
                <a:ea typeface="Bitstream Charter"/>
                <a:cs typeface="Bitstream Charter"/>
              </a:rPr>
              <a:t>DOCTOR DEV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243077-A3BB-4BD9-8AAF-B36512649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667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A7B4C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A7B4C9"/>
                </a:solidFill>
                <a:latin typeface="Bitstream Charter"/>
                <a:ea typeface="Bitstream Charter"/>
                <a:cs typeface="Bitstream Charter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2FB353-D448-456B-8BFA-DA22B2544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52475"/>
            <a:ext cx="11125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5F7F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225" b="1">
                <a:solidFill>
                  <a:srgbClr val="F5F7FB"/>
                </a:solidFill>
                <a:latin typeface="Bitstream Charter"/>
                <a:ea typeface="Bitstream Charter"/>
                <a:cs typeface="Bitstream Charter"/>
              </a:rPr>
              <a:t>The repo can look healthy while its parts disagree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01C3A6-9DC8-4047-BB30-F4699E08B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9542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7B4C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A7B4C9"/>
                </a:solidFill>
                <a:latin typeface="Bitstream Charter"/>
                <a:ea typeface="Bitstream Charter"/>
                <a:cs typeface="Bitstream Charter"/>
              </a:rPr>
              <a:t>A passing test suite and valid config files do not expose every cross-file risk.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665725-0BA5-4ADE-A99E-B9715F093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81250"/>
            <a:ext cx="685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5BA8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325" b="1">
                <a:solidFill>
                  <a:srgbClr val="5BA8FF"/>
                </a:solidFill>
                <a:latin typeface="Bitstream Charter"/>
                <a:ea typeface="Bitstream Charter"/>
                <a:cs typeface="Bitstream Charter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E4BE2D-0B49-4D13-9EE8-3353F5F11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381250"/>
            <a:ext cx="3476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5F7F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1">
                <a:solidFill>
                  <a:srgbClr val="F5F7FB"/>
                </a:solidFill>
                <a:latin typeface="Bitstream Charter"/>
                <a:ea typeface="Bitstream Charter"/>
                <a:cs typeface="Bitstream Charter"/>
              </a:rPr>
              <a:t>Untested behavior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FAC879-61E1-4DA3-8663-8C1CAC94D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409825"/>
            <a:ext cx="6286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7B4C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>
                <a:solidFill>
                  <a:srgbClr val="A7B4C9"/>
                </a:solidFill>
                <a:latin typeface="Bitstream Charter"/>
                <a:ea typeface="Bitstream Charter"/>
                <a:cs typeface="Bitstream Charter"/>
              </a:rPr>
              <a:t>A route exists, but its error or authorization path lacks test evidence.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4F989E-CD39-44D1-9013-79324D540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381375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2FDBBB-2A29-4531-8CE5-8C2AEA564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19500"/>
            <a:ext cx="685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B775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325" b="1">
                <a:solidFill>
                  <a:srgbClr val="B775FF"/>
                </a:solidFill>
                <a:latin typeface="Bitstream Charter"/>
                <a:ea typeface="Bitstream Charter"/>
                <a:cs typeface="Bitstream Charter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6233B3-B75E-4776-9408-0EEFF7BFE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3619500"/>
            <a:ext cx="3476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5F7F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1">
                <a:solidFill>
                  <a:srgbClr val="F5F7FB"/>
                </a:solidFill>
                <a:latin typeface="Bitstream Charter"/>
                <a:ea typeface="Bitstream Charter"/>
                <a:cs typeface="Bitstream Charter"/>
              </a:rPr>
              <a:t>Configuration drift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14B2A6-9ACD-4378-A32D-E4973E5E6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648075"/>
            <a:ext cx="6286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7B4C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>
                <a:solidFill>
                  <a:srgbClr val="A7B4C9"/>
                </a:solidFill>
                <a:latin typeface="Bitstream Charter"/>
                <a:ea typeface="Bitstream Charter"/>
                <a:cs typeface="Bitstream Charter"/>
              </a:rPr>
              <a:t>Code, environment templates, Docker, CI and README disagree.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A49C25-B1ED-4C6B-94ED-DB4F0DF55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619625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1D736B-1E0A-40FE-946A-7B5ED0B0F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857750"/>
            <a:ext cx="685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FB55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325" b="1">
                <a:solidFill>
                  <a:srgbClr val="FFB552"/>
                </a:solidFill>
                <a:latin typeface="Bitstream Charter"/>
                <a:ea typeface="Bitstream Charter"/>
                <a:cs typeface="Bitstream Charter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E026B7-803D-4661-B026-A856E23B5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4857750"/>
            <a:ext cx="3476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5F7F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1">
                <a:solidFill>
                  <a:srgbClr val="F5F7FB"/>
                </a:solidFill>
                <a:latin typeface="Bitstream Charter"/>
                <a:ea typeface="Bitstream Charter"/>
                <a:cs typeface="Bitstream Charter"/>
              </a:rPr>
              <a:t>Slow triage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9634D3-ABFB-4218-82E4-9D304ADD8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886325"/>
            <a:ext cx="6286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7B4C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>
                <a:solidFill>
                  <a:srgbClr val="A7B4C9"/>
                </a:solidFill>
                <a:latin typeface="Bitstream Charter"/>
                <a:ea typeface="Bitstream Charter"/>
                <a:cs typeface="Bitstream Charter"/>
              </a:rPr>
              <a:t>Separate warnings leave developers to connect the evidence manually.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4ACC4D-3660-49DD-88C4-C937AAC65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857875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69558937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0B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344BF5-9615-4FFB-8DED-0CC69FEC3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A8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32A053-76FA-421C-B900-50E1A5488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BA8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5BA8FF"/>
                </a:solidFill>
                <a:latin typeface="Bitstream Charter"/>
                <a:ea typeface="Bitstream Charter"/>
                <a:cs typeface="Bitstream Charter"/>
              </a:rPr>
              <a:t>DOCTOR DEV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F48EE8-D682-4F9C-A70B-FB7553DED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667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A7B4C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A7B4C9"/>
                </a:solidFill>
                <a:latin typeface="Bitstream Charter"/>
                <a:ea typeface="Bitstream Charter"/>
                <a:cs typeface="Bitstream Charter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3DB824-862D-4F11-9D2B-74776DEC0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52475"/>
            <a:ext cx="11125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5F7F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225" b="1">
                <a:solidFill>
                  <a:srgbClr val="F5F7FB"/>
                </a:solidFill>
                <a:latin typeface="Bitstream Charter"/>
                <a:ea typeface="Bitstream Charter"/>
                <a:cs typeface="Bitstream Charter"/>
              </a:rPr>
              <a:t>One scan connects the evidence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D6FFAA-A454-435F-802D-932DA54FC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9542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7B4C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A7B4C9"/>
                </a:solidFill>
                <a:latin typeface="Bitstream Charter"/>
                <a:ea typeface="Bitstream Charter"/>
                <a:cs typeface="Bitstream Charter"/>
              </a:rPr>
              <a:t>Submit a public GitHub URL or an approved local path; Doctor Dev builds an actionable report.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8102BF-F924-4E4A-BA70-78A8357DB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628900"/>
            <a:ext cx="857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5BA8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150" b="1">
                <a:solidFill>
                  <a:srgbClr val="5BA8FF"/>
                </a:solidFill>
                <a:latin typeface="Bitstream Charter"/>
                <a:ea typeface="Bitstream Charter"/>
                <a:cs typeface="Bitstream Charter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D2CF42-F920-4A21-9138-C01D11BAE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2385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5F7F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F5F7FB"/>
                </a:solidFill>
                <a:latin typeface="Bitstream Charter"/>
                <a:ea typeface="Bitstream Charter"/>
                <a:cs typeface="Bitstream Charter"/>
              </a:rPr>
              <a:t>SCAN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A226FA-5A8B-4165-8B14-ADC5D5ABA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714750"/>
            <a:ext cx="2762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A7B4C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A7B4C9"/>
                </a:solidFill>
                <a:latin typeface="Bitstream Charter"/>
                <a:ea typeface="Bitstream Charter"/>
                <a:cs typeface="Bitstream Charter"/>
              </a:rPr>
              <a:t>Files, stack, routes and test assets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06D315-BD3F-4802-A907-3B38B10AE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628900"/>
            <a:ext cx="857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B775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150" b="1">
                <a:solidFill>
                  <a:srgbClr val="B775FF"/>
                </a:solidFill>
                <a:latin typeface="Bitstream Charter"/>
                <a:ea typeface="Bitstream Charter"/>
                <a:cs typeface="Bitstream Charter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3AA27F-FBFB-47ED-B665-48BBC8AF7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2385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5F7F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F5F7FB"/>
                </a:solidFill>
                <a:latin typeface="Bitstream Charter"/>
                <a:ea typeface="Bitstream Charter"/>
                <a:cs typeface="Bitstream Charter"/>
              </a:rPr>
              <a:t>DIAGNOSE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CAAD9D-8D16-4858-83D4-ADFDBCEBB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714750"/>
            <a:ext cx="2857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A7B4C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A7B4C9"/>
                </a:solidFill>
                <a:latin typeface="Bitstream Charter"/>
                <a:ea typeface="Bitstream Charter"/>
                <a:cs typeface="Bitstream Charter"/>
              </a:rPr>
              <a:t>TestPilot finds test gaps. ConfigDoctor detects drift.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819FD3-3087-4ED7-9436-2A00C677F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628900"/>
            <a:ext cx="857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4CD5E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150" b="1">
                <a:solidFill>
                  <a:srgbClr val="4CD5E9"/>
                </a:solidFill>
                <a:latin typeface="Bitstream Charter"/>
                <a:ea typeface="Bitstream Charter"/>
                <a:cs typeface="Bitstream Charter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C3BCE7-6908-4DB1-9E13-88D3AC8AF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32385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5F7F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F5F7FB"/>
                </a:solidFill>
                <a:latin typeface="Bitstream Charter"/>
                <a:ea typeface="Bitstream Charter"/>
                <a:cs typeface="Bitstream Charter"/>
              </a:rPr>
              <a:t>ACT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289A6B-9BB7-4A9A-9BA6-F366C809A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3714750"/>
            <a:ext cx="29051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A7B4C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A7B4C9"/>
                </a:solidFill>
                <a:latin typeface="Bitstream Charter"/>
                <a:ea typeface="Bitstream Charter"/>
                <a:cs typeface="Bitstream Charter"/>
              </a:rPr>
              <a:t>Review severity, confidence, evidence and a concrete next step.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D6CC17-7CED-48B2-96E4-65472C845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476875"/>
            <a:ext cx="10934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3A53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E9AB27-8AB6-4B51-BD0E-89DA07010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676900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A7B4C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A7B4C9"/>
                </a:solidFill>
                <a:latin typeface="Bitstream Charter"/>
                <a:ea typeface="Bitstream Charter"/>
                <a:cs typeface="Bitstream Charter"/>
              </a:rPr>
              <a:t>Read-only analysis     ·     Markdown and JSON export     ·     Optional starter tests</a:t>
            </a:r>
          </a:p>
        </p:txBody>
      </p:sp>
    </p:spTree>
    <p:extLst>
      <p:ext uri="{BB962C8B-B14F-4D97-AF65-F5344CB8AC3E}">
        <p14:creationId xmlns:p14="http://schemas.microsoft.com/office/powerpoint/2010/main" val="172286016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0B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77F09B-ECA2-4C0D-8165-0EEBB0FC3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A8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BA0574-A25D-4E57-A3C6-7B629A9F6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BA8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5BA8FF"/>
                </a:solidFill>
                <a:latin typeface="Bitstream Charter"/>
                <a:ea typeface="Bitstream Charter"/>
                <a:cs typeface="Bitstream Charter"/>
              </a:rPr>
              <a:t>DOCTOR DEV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44932E-A3F9-4EFD-97A6-5920DD437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667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A7B4C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A7B4C9"/>
                </a:solidFill>
                <a:latin typeface="Bitstream Charter"/>
                <a:ea typeface="Bitstream Charter"/>
                <a:cs typeface="Bitstream Charter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172116-D790-4292-84A6-ED01D8A8A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52475"/>
            <a:ext cx="11125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5F7F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225" b="1">
                <a:solidFill>
                  <a:srgbClr val="F5F7FB"/>
                </a:solidFill>
                <a:latin typeface="Bitstream Charter"/>
                <a:ea typeface="Bitstream Charter"/>
                <a:cs typeface="Bitstream Charter"/>
              </a:rPr>
              <a:t>A real repository scan reveals the gaps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A71C9E-29E9-4CE2-8D66-F887A92B8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9542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7B4C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A7B4C9"/>
                </a:solidFill>
                <a:latin typeface="Bitstream Charter"/>
                <a:ea typeface="Bitstream Charter"/>
                <a:cs typeface="Bitstream Charter"/>
              </a:rPr>
              <a:t>Example shown: the public Axios repository, as captured in the supplied product screenshots.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f040c7fad9427e"/>
          <a:srcRect xmlns:a="http://schemas.openxmlformats.org/drawingml/2006/main" l="0" t="18000" r="0" b="34000"/>
          <a:stretch xmlns:a="http://schemas.openxmlformats.org/drawingml/2006/main"/>
        </p:blipFill>
        <p:spPr>
          <a:xfrm xmlns:a="http://schemas.openxmlformats.org/drawingml/2006/main">
            <a:off x="6572250" y="2143125"/>
            <a:ext cx="4905375" cy="39528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8A2E48-BD92-4C14-B196-1FF7A6BED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76500"/>
            <a:ext cx="2476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7800" b="1">
                <a:solidFill>
                  <a:srgbClr val="5BA8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7800" b="1">
                <a:solidFill>
                  <a:srgbClr val="5BA8FF"/>
                </a:solidFill>
                <a:latin typeface="Bitstream Charter"/>
                <a:ea typeface="Bitstream Charter"/>
                <a:cs typeface="Bitstream Charter"/>
              </a:rPr>
              <a:t>88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850285-390B-4036-B50F-4D069C8E4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3019425"/>
            <a:ext cx="3095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A7B4C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A7B4C9"/>
                </a:solidFill>
                <a:latin typeface="Bitstream Charter"/>
                <a:ea typeface="Bitstream Charter"/>
                <a:cs typeface="Bitstream Charter"/>
              </a:rPr>
              <a:t>/100  health score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780687-69C5-41ED-9583-5274734AD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0"/>
            <a:ext cx="466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FB55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325" b="1">
                <a:solidFill>
                  <a:srgbClr val="FFB552"/>
                </a:solidFill>
                <a:latin typeface="Bitstream Charter"/>
                <a:ea typeface="Bitstream Charter"/>
                <a:cs typeface="Bitstream Charter"/>
              </a:rPr>
              <a:t>4 test gaps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950776-C026-41FA-84B4-D8791FB50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0055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B775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325" b="1">
                <a:solidFill>
                  <a:srgbClr val="B775FF"/>
                </a:solidFill>
                <a:latin typeface="Bitstream Charter"/>
                <a:ea typeface="Bitstream Charter"/>
                <a:cs typeface="Bitstream Charter"/>
              </a:rPr>
              <a:t>3 configuration issues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B5AD66-E1F7-4D21-9EC7-1E2897A46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62550"/>
            <a:ext cx="5000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7B4C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>
                <a:solidFill>
                  <a:srgbClr val="A7B4C9"/>
                </a:solidFill>
                <a:latin typeface="Bitstream Charter"/>
                <a:ea typeface="Bitstream Charter"/>
                <a:cs typeface="Bitstream Charter"/>
              </a:rPr>
              <a:t>Evidence based coverage label when no numeric report exists</a:t>
            </a:r>
          </a:p>
        </p:txBody>
      </p:sp>
    </p:spTree>
    <p:extLst>
      <p:ext uri="{BB962C8B-B14F-4D97-AF65-F5344CB8AC3E}">
        <p14:creationId xmlns:p14="http://schemas.microsoft.com/office/powerpoint/2010/main" val="73351534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0B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5779A2-ED01-464F-AD50-EB8E53738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A8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0D5C85-5086-49F9-A8CE-25C69D489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BA8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5BA8FF"/>
                </a:solidFill>
                <a:latin typeface="Bitstream Charter"/>
                <a:ea typeface="Bitstream Charter"/>
                <a:cs typeface="Bitstream Charter"/>
              </a:rPr>
              <a:t>DOCTOR DEV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7ECE01-9787-424F-9ABD-11981AA8F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667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A7B4C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A7B4C9"/>
                </a:solidFill>
                <a:latin typeface="Bitstream Charter"/>
                <a:ea typeface="Bitstream Charter"/>
                <a:cs typeface="Bitstream Charter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0178C2-06FF-4663-84BC-873ADAB6D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52475"/>
            <a:ext cx="11125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5F7F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225" b="1">
                <a:solidFill>
                  <a:srgbClr val="F5F7FB"/>
                </a:solidFill>
                <a:latin typeface="Bitstream Charter"/>
                <a:ea typeface="Bitstream Charter"/>
                <a:cs typeface="Bitstream Charter"/>
              </a:rPr>
              <a:t>Two focused diagnostic engines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3DECFA-AF94-467F-948D-604F6A6B6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9542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7B4C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A7B4C9"/>
                </a:solidFill>
                <a:latin typeface="Bitstream Charter"/>
                <a:ea typeface="Bitstream Charter"/>
                <a:cs typeface="Bitstream Charter"/>
              </a:rPr>
              <a:t>Each finding points back to repository evidence and states how confident the analysis is.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17A630-B079-43D1-A8E8-E36A496E2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05050"/>
            <a:ext cx="5238750" cy="3676650"/>
          </a:xfrm>
          <a:prstGeom xmlns:a="http://schemas.openxmlformats.org/drawingml/2006/main" prst="roundRect">
            <a:avLst>
              <a:gd name="adj" fmla="val 2073"/>
            </a:avLst>
          </a:prstGeom>
          <a:solidFill xmlns:a="http://schemas.openxmlformats.org/drawingml/2006/main">
            <a:srgbClr val="171126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E3C76E-3BAC-498C-AAFC-AC0BE2D6E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305050"/>
            <a:ext cx="5238750" cy="3676650"/>
          </a:xfrm>
          <a:prstGeom xmlns:a="http://schemas.openxmlformats.org/drawingml/2006/main" prst="roundRect">
            <a:avLst>
              <a:gd name="adj" fmla="val 2073"/>
            </a:avLst>
          </a:prstGeom>
          <a:solidFill xmlns:a="http://schemas.openxmlformats.org/drawingml/2006/main">
            <a:srgbClr val="0B2029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063666-6274-4E98-B79C-48567F3BC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19375"/>
            <a:ext cx="447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B775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700" b="1">
                <a:solidFill>
                  <a:srgbClr val="B775FF"/>
                </a:solidFill>
                <a:latin typeface="Bitstream Charter"/>
                <a:ea typeface="Bitstream Charter"/>
                <a:cs typeface="Bitstream Charter"/>
              </a:rPr>
              <a:t>TestPilot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584E60-42B7-44BD-B730-CEC3E3835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30517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5F7F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F5F7FB"/>
                </a:solidFill>
                <a:latin typeface="Bitstream Charter"/>
                <a:ea typeface="Bitstream Charter"/>
                <a:cs typeface="Bitstream Charter"/>
              </a:rPr>
              <a:t>Maps tests to source and routes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1D85BA-2615-4629-8389-7C4D7C630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924300"/>
            <a:ext cx="43434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A7B4C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A7B4C9"/>
                </a:solidFill>
                <a:latin typeface="Bitstream Charter"/>
                <a:ea typeface="Bitstream Charter"/>
                <a:cs typeface="Bitstream Charter"/>
              </a:rPr>
              <a:t>Highlights missing error, edge and authorization cases. Reads numeric coverage only when a supported artifact exists.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C51A26-3206-4F7A-8BC8-C8E03775D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19375"/>
            <a:ext cx="447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4CD5E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700" b="1">
                <a:solidFill>
                  <a:srgbClr val="4CD5E9"/>
                </a:solidFill>
                <a:latin typeface="Bitstream Charter"/>
                <a:ea typeface="Bitstream Charter"/>
                <a:cs typeface="Bitstream Charter"/>
              </a:rPr>
              <a:t>ConfigDoctor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9E97D0-239D-46E1-800D-1B49433F5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30517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5F7F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F5F7FB"/>
                </a:solidFill>
                <a:latin typeface="Bitstream Charter"/>
                <a:ea typeface="Bitstream Charter"/>
                <a:cs typeface="Bitstream Charter"/>
              </a:rPr>
              <a:t>Cross-checks the whole setup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13BD74-F881-4970-A4D1-0977700D2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924300"/>
            <a:ext cx="43434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A7B4C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A7B4C9"/>
                </a:solidFill>
                <a:latin typeface="Bitstream Charter"/>
                <a:ea typeface="Bitstream Charter"/>
                <a:cs typeface="Bitstream Charter"/>
              </a:rPr>
              <a:t>Compares environment variables, Docker, ports, CI, runtime metadata and README instructions.</a:t>
            </a:r>
          </a:p>
        </p:txBody>
      </p:sp>
    </p:spTree>
    <p:extLst>
      <p:ext uri="{BB962C8B-B14F-4D97-AF65-F5344CB8AC3E}">
        <p14:creationId xmlns:p14="http://schemas.microsoft.com/office/powerpoint/2010/main" val="155152541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0B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8D3D0A-5B2C-43AB-997E-697BA4792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A8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7F7FBC-D4A2-492D-8FF4-22C369A21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BA8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5BA8FF"/>
                </a:solidFill>
                <a:latin typeface="Bitstream Charter"/>
                <a:ea typeface="Bitstream Charter"/>
                <a:cs typeface="Bitstream Charter"/>
              </a:rPr>
              <a:t>DOCTOR DEV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E345AC-F463-42AA-89C4-533A36191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667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A7B4C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A7B4C9"/>
                </a:solidFill>
                <a:latin typeface="Bitstream Charter"/>
                <a:ea typeface="Bitstream Charter"/>
                <a:cs typeface="Bitstream Charter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52A360-00E0-44FE-905F-3BA5840D6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52475"/>
            <a:ext cx="11125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5F7F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225" b="1">
                <a:solidFill>
                  <a:srgbClr val="F5F7FB"/>
                </a:solidFill>
                <a:latin typeface="Bitstream Charter"/>
                <a:ea typeface="Bitstream Charter"/>
                <a:cs typeface="Bitstream Charter"/>
              </a:rPr>
              <a:t>A finding you can act 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F7CD39-3EB9-4E5B-8D79-47677B66D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9542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7B4C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A7B4C9"/>
                </a:solidFill>
                <a:latin typeface="Bitstream Charter"/>
                <a:ea typeface="Bitstream Charter"/>
                <a:cs typeface="Bitstream Charter"/>
              </a:rPr>
              <a:t>The report identifies the file, issue and recommended change.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37314f76aa422c"/>
          <a:srcRect xmlns:a="http://schemas.openxmlformats.org/drawingml/2006/main" l="0" t="39000" r="0" b="28000"/>
          <a:stretch xmlns:a="http://schemas.openxmlformats.org/drawingml/2006/main"/>
        </p:blipFill>
        <p:spPr>
          <a:xfrm xmlns:a="http://schemas.openxmlformats.org/drawingml/2006/main">
            <a:off x="5953125" y="2238375"/>
            <a:ext cx="5476875" cy="39052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52E4BB-5184-4C5F-9AD3-71F1593EE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43175"/>
            <a:ext cx="4762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FB55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325" b="1">
                <a:solidFill>
                  <a:srgbClr val="FFB552"/>
                </a:solidFill>
                <a:latin typeface="Bitstream Charter"/>
                <a:ea typeface="Bitstream Charter"/>
                <a:cs typeface="Bitstream Charter"/>
              </a:rPr>
              <a:t>README port mismatch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A3CDA7-D99E-4262-9402-45ECA79E7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333750"/>
            <a:ext cx="4762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5F7F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>
                <a:solidFill>
                  <a:srgbClr val="F5F7FB"/>
                </a:solidFill>
                <a:latin typeface="Bitstream Charter"/>
                <a:ea typeface="Bitstream Charter"/>
                <a:cs typeface="Bitstream Charter"/>
              </a:rPr>
              <a:t>Doctor Dev flags ports documented in the README that the application does not use.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BF31DE-46E4-4261-84B0-EF10E569E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714875"/>
            <a:ext cx="4762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A7B4C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A7B4C9"/>
                </a:solidFill>
                <a:latin typeface="Bitstream Charter"/>
                <a:ea typeface="Bitstream Charter"/>
                <a:cs typeface="Bitstream Charter"/>
              </a:rPr>
              <a:t>The same scan also notes a missing .env.example and absent test instructions.</a:t>
            </a:r>
          </a:p>
        </p:txBody>
      </p:sp>
    </p:spTree>
    <p:extLst>
      <p:ext uri="{BB962C8B-B14F-4D97-AF65-F5344CB8AC3E}">
        <p14:creationId xmlns:p14="http://schemas.microsoft.com/office/powerpoint/2010/main" val="190468788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0B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5AB4E1-2CE0-4970-A26D-AD129CE01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A8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9B969F-ABFC-4097-96C9-A23BE8C53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BA8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5BA8FF"/>
                </a:solidFill>
                <a:latin typeface="Bitstream Charter"/>
                <a:ea typeface="Bitstream Charter"/>
                <a:cs typeface="Bitstream Charter"/>
              </a:rPr>
              <a:t>DOCTOR DEV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E84420-73B5-4A43-AB92-B63C6738D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667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A7B4C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A7B4C9"/>
                </a:solidFill>
                <a:latin typeface="Bitstream Charter"/>
                <a:ea typeface="Bitstream Charter"/>
                <a:cs typeface="Bitstream Charter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15775C-5F8A-4338-AF9C-3274A271E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52475"/>
            <a:ext cx="11125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5F7F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225" b="1">
                <a:solidFill>
                  <a:srgbClr val="F5F7FB"/>
                </a:solidFill>
                <a:latin typeface="Bitstream Charter"/>
                <a:ea typeface="Bitstream Charter"/>
                <a:cs typeface="Bitstream Charter"/>
              </a:rPr>
              <a:t>How it is built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168F55-9D2A-4FBD-9040-C665B9446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9542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7B4C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A7B4C9"/>
                </a:solidFill>
                <a:latin typeface="Bitstream Charter"/>
                <a:ea typeface="Bitstream Charter"/>
                <a:cs typeface="Bitstream Charter"/>
              </a:rPr>
              <a:t>One connected model of the repository, from analyzer logic through UI, security and review.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3F968A-7C3F-4CA6-9B9F-F688A207B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33625"/>
            <a:ext cx="95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A8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1CA1A3-8A3F-42FB-B92C-745B3727F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333625"/>
            <a:ext cx="266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5F7F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F5F7FB"/>
                </a:solidFill>
                <a:latin typeface="Bitstream Charter"/>
                <a:ea typeface="Bitstream Charter"/>
                <a:cs typeface="Bitstream Charter"/>
              </a:rPr>
              <a:t>Architecture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12B506-3231-4304-89CC-7D3312CAE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333625"/>
            <a:ext cx="733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A7B4C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>
                <a:solidFill>
                  <a:srgbClr val="A7B4C9"/>
                </a:solidFill>
                <a:latin typeface="Bitstream Charter"/>
                <a:ea typeface="Bitstream Charter"/>
                <a:cs typeface="Bitstream Charter"/>
              </a:rPr>
              <a:t>TestPilot, ConfigDoctor and shared backend types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6AFF6A-4ABE-4CC3-9729-A4DA36A9A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24250"/>
            <a:ext cx="95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5F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0A11D5-B5FC-4F93-93E3-6CFA1D4DA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524250"/>
            <a:ext cx="266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5F7F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F5F7FB"/>
                </a:solidFill>
                <a:latin typeface="Bitstream Charter"/>
                <a:ea typeface="Bitstream Charter"/>
                <a:cs typeface="Bitstream Charter"/>
              </a:rPr>
              <a:t>Implementation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FEFA4F-FBFC-4578-8B8A-2D913A2A2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524250"/>
            <a:ext cx="733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A7B4C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>
                <a:solidFill>
                  <a:srgbClr val="A7B4C9"/>
                </a:solidFill>
                <a:latin typeface="Bitstream Charter"/>
                <a:ea typeface="Bitstream Charter"/>
                <a:cs typeface="Bitstream Charter"/>
              </a:rPr>
              <a:t>Repository discovery, AST analysis and evidence mapping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FD9493-D4F0-433B-AD1A-455032EAF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14875"/>
            <a:ext cx="95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D5E9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579197-5A33-4B66-8AA9-DD45BF548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714875"/>
            <a:ext cx="266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5F7F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F5F7FB"/>
                </a:solidFill>
                <a:latin typeface="Bitstream Charter"/>
                <a:ea typeface="Bitstream Charter"/>
                <a:cs typeface="Bitstream Charter"/>
              </a:rPr>
              <a:t>Hardening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550347-102C-438A-987D-55FEDC618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714875"/>
            <a:ext cx="733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A7B4C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>
                <a:solidFill>
                  <a:srgbClr val="A7B4C9"/>
                </a:solidFill>
                <a:latin typeface="Bitstream Charter"/>
                <a:ea typeface="Bitstream Charter"/>
                <a:cs typeface="Bitstream Charter"/>
              </a:rPr>
              <a:t>False-positive debugging, path safety and regression review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C1847F-7620-4602-ADDE-8EB0F475D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19800"/>
            <a:ext cx="3714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5BA8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5BA8FF"/>
                </a:solidFill>
                <a:latin typeface="Bitstream Charter"/>
                <a:ea typeface="Bitstream Charter"/>
                <a:cs typeface="Bitstream Charter"/>
              </a:rPr>
              <a:t>Explore the public source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B4093A-F23B-4F97-AF6F-D2CBC717A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6019800"/>
            <a:ext cx="7048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5F7F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>
                <a:solidFill>
                  <a:srgbClr val="F5F7FB"/>
                </a:solidFill>
                <a:latin typeface="Bitstream Charter"/>
                <a:ea typeface="Bitstream Charter"/>
                <a:cs typeface="Bitstream Charter"/>
              </a:rPr>
              <a:t>github.com/priyanshusharan-cmd/doctor-dev</a:t>
            </a:r>
          </a:p>
        </p:txBody>
      </p:sp>
    </p:spTree>
    <p:extLst>
      <p:ext uri="{BB962C8B-B14F-4D97-AF65-F5344CB8AC3E}">
        <p14:creationId xmlns:p14="http://schemas.microsoft.com/office/powerpoint/2010/main" val="28712844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0B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BB0A36-4232-4EEA-A8F7-764C27749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A8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CB4D54-D07D-4BEB-9F83-A75B7D686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BA8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5BA8FF"/>
                </a:solidFill>
                <a:latin typeface="Bitstream Charter"/>
                <a:ea typeface="Bitstream Charter"/>
                <a:cs typeface="Bitstream Charter"/>
              </a:rPr>
              <a:t>DOCTOR DEV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9ED98A-A412-466E-A552-83871D7D3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667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A7B4C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A7B4C9"/>
                </a:solidFill>
                <a:latin typeface="Bitstream Charter"/>
                <a:ea typeface="Bitstream Charter"/>
                <a:cs typeface="Bitstream Charter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20907A-15B9-4962-8933-3A5DFDFB6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00200"/>
            <a:ext cx="10191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6600" b="1">
                <a:solidFill>
                  <a:srgbClr val="F5F7F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6600" b="1">
                <a:solidFill>
                  <a:srgbClr val="F5F7FB"/>
                </a:solidFill>
                <a:latin typeface="Bitstream Charter"/>
                <a:ea typeface="Bitstream Charter"/>
                <a:cs typeface="Bitstream Charter"/>
              </a:rPr>
              <a:t>Thank you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2EEA59-D6DA-4FFC-9A11-5BAED0509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19450"/>
            <a:ext cx="8382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5BA8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225" b="1">
                <a:solidFill>
                  <a:srgbClr val="5BA8FF"/>
                </a:solidFill>
                <a:latin typeface="Bitstream Charter"/>
                <a:ea typeface="Bitstream Charter"/>
                <a:cs typeface="Bitstream Charter"/>
              </a:rPr>
              <a:t>Doctor Dev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A324BA-E3E7-4178-BBD5-C78A978C1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0025"/>
            <a:ext cx="962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A7B4C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0">
                <a:solidFill>
                  <a:srgbClr val="A7B4C9"/>
                </a:solidFill>
                <a:latin typeface="Bitstream Charter"/>
                <a:ea typeface="Bitstream Charter"/>
                <a:cs typeface="Bitstream Charter"/>
              </a:rPr>
              <a:t>Find repository risks before they reach developers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2B2710-4746-4D03-B58E-0CEBCB867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91125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A8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D70D09-1CF2-4C14-89FB-14825B827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410200"/>
            <a:ext cx="1019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5F7F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0">
                <a:solidFill>
                  <a:srgbClr val="F5F7FB"/>
                </a:solidFill>
                <a:latin typeface="Bitstream Charter"/>
                <a:ea typeface="Bitstream Charter"/>
                <a:cs typeface="Bitstream Charter"/>
              </a:rPr>
              <a:t>github.com/priyanshusharan-cmd/doctor-dev</a:t>
            </a:r>
          </a:p>
        </p:txBody>
      </p:sp>
    </p:spTree>
    <p:extLst>
      <p:ext uri="{BB962C8B-B14F-4D97-AF65-F5344CB8AC3E}">
        <p14:creationId xmlns:p14="http://schemas.microsoft.com/office/powerpoint/2010/main" val="14282343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2026-09-26T19:31:48.8110000Z</dcterms:created>
  <dcterms:modified xsi:type="dcterms:W3CDTF">2026-09-26T19:31:48.8110000Z</dcterms:modified>
</coreProperties>
</file>